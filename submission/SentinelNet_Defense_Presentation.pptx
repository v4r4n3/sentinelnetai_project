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3b0eab2304f94" /><Relationship Type="http://schemas.openxmlformats.org/officeDocument/2006/relationships/extended-properties" Target="/docProps/app.xml" Id="R73b3472423a64b7c" /><Relationship Type="http://schemas.openxmlformats.org/officeDocument/2006/relationships/officeDocument" Target="/ppt/presentation.xml" Id="R8db98d3469cd43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3f4f8c3b9d4b45"/>
  </p:sldMasterIdLst>
  <p:notesMasterIdLst>
    <p:notesMasterId xmlns:r="http://schemas.openxmlformats.org/officeDocument/2006/relationships" r:id="R039af768a4cd46dc"/>
  </p:notesMasterIdLst>
  <p:sldIdLst>
    <p:sldId xmlns:r="http://schemas.openxmlformats.org/officeDocument/2006/relationships" id="256" r:id="Ra857e54bae8647bb"/>
    <p:sldId xmlns:r="http://schemas.openxmlformats.org/officeDocument/2006/relationships" id="257" r:id="Rdd92a8366f174199"/>
    <p:sldId xmlns:r="http://schemas.openxmlformats.org/officeDocument/2006/relationships" id="258" r:id="R52b1f1eb2ed24a40"/>
    <p:sldId xmlns:r="http://schemas.openxmlformats.org/officeDocument/2006/relationships" id="259" r:id="Racc23196786d4458"/>
    <p:sldId xmlns:r="http://schemas.openxmlformats.org/officeDocument/2006/relationships" id="260" r:id="Rfb325f308b2b4bd9"/>
    <p:sldId xmlns:r="http://schemas.openxmlformats.org/officeDocument/2006/relationships" id="261" r:id="R4bba6f6cf09a4f67"/>
    <p:sldId xmlns:r="http://schemas.openxmlformats.org/officeDocument/2006/relationships" id="262" r:id="R12632f6251b24172"/>
    <p:sldId xmlns:r="http://schemas.openxmlformats.org/officeDocument/2006/relationships" id="263" r:id="Ra770d1f69a5a40dd"/>
    <p:sldId xmlns:r="http://schemas.openxmlformats.org/officeDocument/2006/relationships" id="264" r:id="Race13fcc265a4c8a"/>
    <p:sldId xmlns:r="http://schemas.openxmlformats.org/officeDocument/2006/relationships" id="265" r:id="R478b106fa58c4c5b"/>
    <p:sldId xmlns:r="http://schemas.openxmlformats.org/officeDocument/2006/relationships" id="266" r:id="R19ec0c2bf93241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062d74547e4fa2" /><Relationship Type="http://schemas.openxmlformats.org/officeDocument/2006/relationships/slideMaster" Target="/ppt/slideMasters/slideMaster1.xml" Id="R0f3f4f8c3b9d4b45" /><Relationship Type="http://schemas.openxmlformats.org/officeDocument/2006/relationships/notesMaster" Target="/ppt/notesMasters/notesMaster1.xml" Id="R039af768a4cd46dc" /><Relationship Type="http://schemas.openxmlformats.org/officeDocument/2006/relationships/presProps" Target="/ppt/presProps.xml" Id="Rbd23e63416d445ff" /><Relationship Type="http://schemas.openxmlformats.org/officeDocument/2006/relationships/tableStyles" Target="/ppt/tableStyles.xml" Id="R666c4f60df604c1a" /><Relationship Type="http://schemas.openxmlformats.org/officeDocument/2006/relationships/slide" Target="/ppt/slides/slide1.xml" Id="Ra857e54bae8647bb" /><Relationship Type="http://schemas.openxmlformats.org/officeDocument/2006/relationships/slide" Target="/ppt/slides/slide2.xml" Id="Rdd92a8366f174199" /><Relationship Type="http://schemas.openxmlformats.org/officeDocument/2006/relationships/slide" Target="/ppt/slides/slide3.xml" Id="R52b1f1eb2ed24a40" /><Relationship Type="http://schemas.openxmlformats.org/officeDocument/2006/relationships/slide" Target="/ppt/slides/slide4.xml" Id="Racc23196786d4458" /><Relationship Type="http://schemas.openxmlformats.org/officeDocument/2006/relationships/slide" Target="/ppt/slides/slide5.xml" Id="Rfb325f308b2b4bd9" /><Relationship Type="http://schemas.openxmlformats.org/officeDocument/2006/relationships/slide" Target="/ppt/slides/slide6.xml" Id="R4bba6f6cf09a4f67" /><Relationship Type="http://schemas.openxmlformats.org/officeDocument/2006/relationships/slide" Target="/ppt/slides/slide7.xml" Id="R12632f6251b24172" /><Relationship Type="http://schemas.openxmlformats.org/officeDocument/2006/relationships/slide" Target="/ppt/slides/slide8.xml" Id="Ra770d1f69a5a40dd" /><Relationship Type="http://schemas.openxmlformats.org/officeDocument/2006/relationships/slide" Target="/ppt/slides/slide9.xml" Id="Race13fcc265a4c8a" /><Relationship Type="http://schemas.openxmlformats.org/officeDocument/2006/relationships/slide" Target="/ppt/slides/slide10.xml" Id="R478b106fa58c4c5b" /><Relationship Type="http://schemas.openxmlformats.org/officeDocument/2006/relationships/slide" Target="/ppt/slides/slide11.xml" Id="R19ec0c2bf932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71686fd295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b02669b7b4b67" /><Relationship Type="http://schemas.openxmlformats.org/officeDocument/2006/relationships/notesMaster" Target="/ppt/notesMasters/notesMaster1.xml" Id="R3ed6b486a799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130148429f4986" /><Relationship Type="http://schemas.openxmlformats.org/officeDocument/2006/relationships/notesMaster" Target="/ppt/notesMasters/notesMaster1.xml" Id="R97f25fb597f64d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71181841cd4668" /><Relationship Type="http://schemas.openxmlformats.org/officeDocument/2006/relationships/notesMaster" Target="/ppt/notesMasters/notesMaster1.xml" Id="R3fff09bd40ee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9c104721744be7" /><Relationship Type="http://schemas.openxmlformats.org/officeDocument/2006/relationships/notesMaster" Target="/ppt/notesMasters/notesMaster1.xml" Id="R20c1a2feb3fb45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b3e221676246a3" /><Relationship Type="http://schemas.openxmlformats.org/officeDocument/2006/relationships/notesMaster" Target="/ppt/notesMasters/notesMaster1.xml" Id="Rbbb97b43bb854d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a115dda27b4dd4" /><Relationship Type="http://schemas.openxmlformats.org/officeDocument/2006/relationships/notesMaster" Target="/ppt/notesMasters/notesMaster1.xml" Id="R7ddeeecfdad94c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23d6d650794f06" /><Relationship Type="http://schemas.openxmlformats.org/officeDocument/2006/relationships/notesMaster" Target="/ppt/notesMasters/notesMaster1.xml" Id="Ra4957c67406e47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435a4930f04c32" /><Relationship Type="http://schemas.openxmlformats.org/officeDocument/2006/relationships/notesMaster" Target="/ppt/notesMasters/notesMaster1.xml" Id="R953f2d740b6946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d1266c0e9f4dd5" /><Relationship Type="http://schemas.openxmlformats.org/officeDocument/2006/relationships/notesMaster" Target="/ppt/notesMasters/notesMaster1.xml" Id="Rc82a13df8dba46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429d8739944cd3" /><Relationship Type="http://schemas.openxmlformats.org/officeDocument/2006/relationships/notesMaster" Target="/ppt/notesMasters/notesMaster1.xml" Id="R047bfd97b66449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67e0afb6ac4025" /><Relationship Type="http://schemas.openxmlformats.org/officeDocument/2006/relationships/notesMaster" Target="/ppt/notesMasters/notesMaster1.xml" Id="R0fdcc3d347254b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defensive problem: prioritizing suspicious flows without allowing one opaque score to trigger containment. Source: submission/presentation_outline.md and submission/SentinelNet_Capstone_Report.pdf.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Three model paths feed transparent fusion, then ATT&amp;CK context and dry-run recommendations. No response command executes. Source: README.md and scripts/09_run_pipeline.py.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generator produced 12,000 rows with seed 42. Inputs with missing or non-finite required features are rejected. Source: outputs/data_profile.json and scripts/sentinel_utils.py.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caveat immediately: this score proves the implementation learns intentionally distinct synthetic patterns. It does not establish production generalization. Source: outputs/supervised_metrics.json.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autoencoder macro F1 is 0.9595 and weighted F1 is 0.9613. Isolation Forest macro F1 is 0.7942 and weighted F1 is 0.8112. Source: outputs/anomaly_metrics.json.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apologize for the GRU result. Explain that the checkpoint is real, the windows do not cross the split boundary, and the synthetic generator lacks campaign-level temporal structure. Source: outputs/sequence_metrics.json and submission/defense_notes.md.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1,000 generated rows overlap the model-development corpus. Present the 384-alert result only as an end-to-end integration demonstration, never as an independent evaluation. Source: outputs/fusion_summary.json and outputs/stream_alerts.jsonl.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highest-risk committed examples for DDoS, BruteForce, and Exfiltration. Point to source, destination, confidence, telemetry evidence, risk, and ATT&amp;CK context. Source: outputs/stream_alerts.jsonl.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simulator never invokes a firewall, endpoint, or SOAR command. Malformed source or destination addresses escalate for data-quality review. Source: scripts/07_response_simulator.py and outputs/response_plan_lab_only.json.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claims bounded. The project demonstrates a reproducible engineering pipeline and explicit safety controls. It does not claim production readiness. Source: submission/SentinelNet_Capstone_Report.pdf and submission/defense_notes.md.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evidence: the pipeline is deterministic, 38 tests pass, the validator loads artifacts, and all response actions require approval. Source: outputs/execution_log.txt, tests/, scripts/08_validate_deliverables.py, and submission/final_checklist.md.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8dd88639a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74d9685bdd46a3" /><Relationship Type="http://schemas.openxmlformats.org/officeDocument/2006/relationships/slideLayout" Target="/ppt/slideLayouts/slideLayout1.xml" Id="R575e5361912d4e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5e5361912d4e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2a20547554682" /><Relationship Type="http://schemas.openxmlformats.org/officeDocument/2006/relationships/notesSlide" Target="/ppt/notesSlides/notesSlide1.xml" Id="R5f2b6b2084fa4c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1b3d23441416e" /><Relationship Type="http://schemas.openxmlformats.org/officeDocument/2006/relationships/notesSlide" Target="/ppt/notesSlides/notesSlide2.xml" Id="R5caad747b3ab47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2618e98da467e" /><Relationship Type="http://schemas.openxmlformats.org/officeDocument/2006/relationships/chart" Target="/ppt/slides/charts/chart1.xml" Id="R17ae2f97463d48be" /><Relationship Type="http://schemas.openxmlformats.org/officeDocument/2006/relationships/notesSlide" Target="/ppt/notesSlides/notesSlide3.xml" Id="R7259c37e971449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f9c1750564edc" /><Relationship Type="http://schemas.openxmlformats.org/officeDocument/2006/relationships/chart" Target="/ppt/slides/charts/chart2.xml" Id="Rb522486a27b24a29" /><Relationship Type="http://schemas.openxmlformats.org/officeDocument/2006/relationships/notesSlide" Target="/ppt/notesSlides/notesSlide4.xml" Id="R8970ede2f70343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fc41a7c5642d4" /><Relationship Type="http://schemas.openxmlformats.org/officeDocument/2006/relationships/chart" Target="/ppt/slides/charts/chart3.xml" Id="R48971938934443c7" /><Relationship Type="http://schemas.openxmlformats.org/officeDocument/2006/relationships/notesSlide" Target="/ppt/notesSlides/notesSlide5.xml" Id="Rcd6d4e64fefa46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6fc05c7414423" /><Relationship Type="http://schemas.openxmlformats.org/officeDocument/2006/relationships/notesSlide" Target="/ppt/notesSlides/notesSlide6.xml" Id="R0f8661de225d48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d021217474ca7" /><Relationship Type="http://schemas.openxmlformats.org/officeDocument/2006/relationships/chart" Target="/ppt/slides/charts/chart4.xml" Id="R8a0d0448ae934861" /><Relationship Type="http://schemas.openxmlformats.org/officeDocument/2006/relationships/notesSlide" Target="/ppt/notesSlides/notesSlide7.xml" Id="R1ceab14cf01447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fe5ff152849dc" /><Relationship Type="http://schemas.openxmlformats.org/officeDocument/2006/relationships/notesSlide" Target="/ppt/notesSlides/notesSlide8.xml" Id="R38043d87ebef4a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efffb0c07465e" /><Relationship Type="http://schemas.openxmlformats.org/officeDocument/2006/relationships/notesSlide" Target="/ppt/notesSlides/notesSlide9.xml" Id="R7ee69b3379e846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13d33c1274947" /><Relationship Type="http://schemas.openxmlformats.org/officeDocument/2006/relationships/notesSlide" Target="/ppt/notesSlides/notesSlide10.xml" Id="R9b2731ac55e54e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e4ac111544d2b" /><Relationship Type="http://schemas.openxmlformats.org/officeDocument/2006/relationships/notesSlide" Target="/ppt/notesSlides/notesSlide11.xml" Id="R860012928fa945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Flows</c:v>
          </c:tx>
          <c:spPr>
            <a:solidFill xmlns:a="http://schemas.openxmlformats.org/drawingml/2006/main">
              <a:srgbClr val="38BDF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DD4BF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Benign</c:v>
                </c:pt>
                <c:pt idx="1">
                  <c:v>PortScan</c:v>
                </c:pt>
                <c:pt idx="2">
                  <c:v>DDoS</c:v>
                </c:pt>
                <c:pt idx="3">
                  <c:v>BruteForce</c:v>
                </c:pt>
                <c:pt idx="4">
                  <c:v>Exfiltration</c:v>
                </c:pt>
                <c:pt idx="5">
                  <c:v>C2Beacon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7401</c:v>
                </c:pt>
                <c:pt idx="1">
                  <c:v>1189</c:v>
                </c:pt>
                <c:pt idx="2">
                  <c:v>992</c:v>
                </c:pt>
                <c:pt idx="3">
                  <c:v>932</c:v>
                </c:pt>
                <c:pt idx="4">
                  <c:v>772</c:v>
                </c:pt>
                <c:pt idx="5">
                  <c:v>714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4F8FB"/>
                  </a:solidFill>
                  <a:latin typeface="Ubuntu"/>
                  <a:ea typeface="Ubuntu"/>
                  <a:cs typeface="Ubuntu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Ubuntu"/>
                <a:ea typeface="Ubuntu"/>
                <a:cs typeface="Ubuntu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9364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31F"/>
        </a:solidFill>
      </c:spPr>
    </c:plotArea>
    <c:plotVisOnly val="1"/>
  </c:chart>
  <c:spPr>
    <a:solidFill xmlns:a="http://schemas.openxmlformats.org/drawingml/2006/main">
      <a:srgbClr val="07131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DD4BF"/>
            </a:solidFill>
          </c:spPr>
          <c:cat>
            <c:strRef>
              <c:f>'Chart Data'!$A$2:$A$4</c:f>
              <c:strCache>
                <c:ptCount val="3"/>
                <c:pt idx="0">
                  <c:v>Macro F1</c:v>
                </c:pt>
                <c:pt idx="1">
                  <c:v>Weighted F1</c:v>
                </c:pt>
                <c:pt idx="2">
                  <c:v>Accuracy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0.9987</c:v>
                </c:pt>
                <c:pt idx="1">
                  <c:v>0.9993</c:v>
                </c:pt>
                <c:pt idx="2">
                  <c:v>0.9993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4F8FB"/>
                  </a:solidFill>
                  <a:latin typeface="Ubuntu"/>
                  <a:ea typeface="Ubuntu"/>
                  <a:cs typeface="Ubuntu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9364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19364A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31F"/>
        </a:solidFill>
      </c:spPr>
    </c:plotArea>
    <c:plotVisOnly val="1"/>
  </c:chart>
  <c:spPr>
    <a:solidFill xmlns:a="http://schemas.openxmlformats.org/drawingml/2006/main">
      <a:srgbClr val="07131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2DD4BF"/>
            </a:solidFill>
          </c:spPr>
          <c:cat>
            <c:strRef>
              <c:f>'Chart Data'!$A$2:$A$3</c:f>
              <c:strCache>
                <c:ptCount val="2"/>
                <c:pt idx="0">
                  <c:v>Autoencoder</c:v>
                </c:pt>
                <c:pt idx="1">
                  <c:v>Isolation Forest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0.9595</c:v>
                </c:pt>
                <c:pt idx="1">
                  <c:v>0.7942</c:v>
                </c:pt>
              </c:numCache>
            </c:numRef>
          </c:val>
        </c:ser>
        <c:ser>
          <c:idx val="1"/>
          <c:order val="1"/>
          <c:tx>
            <c:v>Weighted F1</c:v>
          </c:tx>
          <c:spPr>
            <a:solidFill xmlns:a="http://schemas.openxmlformats.org/drawingml/2006/main">
              <a:srgbClr val="38BDF8"/>
            </a:solidFill>
          </c:spPr>
          <c:cat>
            <c:strRef>
              <c:f>'Chart Data'!$C$2:$C$3</c:f>
              <c:strCache>
                <c:ptCount val="2"/>
                <c:pt idx="0">
                  <c:v>Autoencoder</c:v>
                </c:pt>
                <c:pt idx="1">
                  <c:v>Isolation Forest</c:v>
                </c:pt>
              </c:strCache>
            </c:strRef>
          </c:cat>
          <c:val>
            <c:numRef>
              <c:f>'Chart Data'!$D$2:$D$3</c:f>
              <c:numCache>
                <c:formatCode>0.0000</c:formatCode>
                <c:ptCount val="2"/>
                <c:pt idx="0">
                  <c:v>0.9613</c:v>
                </c:pt>
                <c:pt idx="1">
                  <c:v>0.8112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4F8FB"/>
                  </a:solidFill>
                  <a:latin typeface="Ubuntu"/>
                  <a:ea typeface="Ubuntu"/>
                  <a:cs typeface="Ubuntu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9364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19364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31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D7E3EA"/>
              </a:solidFill>
              <a:latin typeface="Ubuntu"/>
              <a:ea typeface="Ubuntu"/>
              <a:cs typeface="Ubuntu"/>
            </a:defRPr>
          </a:pPr>
        </a:p>
      </c:txPr>
    </c:legend>
    <c:plotVisOnly val="1"/>
  </c:chart>
  <c:spPr>
    <a:solidFill xmlns:a="http://schemas.openxmlformats.org/drawingml/2006/main">
      <a:srgbClr val="07131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Maximum points</c:v>
          </c:tx>
          <c:spPr>
            <a:solidFill xmlns:a="http://schemas.openxmlformats.org/drawingml/2006/main">
              <a:srgbClr val="2DD4B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6B73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B7185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Supervised</c:v>
                </c:pt>
                <c:pt idx="1">
                  <c:v>Anomaly</c:v>
                </c:pt>
                <c:pt idx="2">
                  <c:v>Sequence</c:v>
                </c:pt>
                <c:pt idx="3">
                  <c:v>Telemetry</c:v>
                </c:pt>
                <c:pt idx="4">
                  <c:v>Sensor</c:v>
                </c:pt>
                <c:pt idx="5">
                  <c:v>Asset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45</c:v>
                </c:pt>
                <c:pt idx="1">
                  <c:v>20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  <c:pt idx="5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4F8FB"/>
                  </a:solidFill>
                  <a:latin typeface="Ubuntu"/>
                  <a:ea typeface="Ubuntu"/>
                  <a:cs typeface="Ubuntu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19364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9364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31F"/>
        </a:solidFill>
      </c:spPr>
    </c:plotArea>
    <c:plotVisOnly val="1"/>
  </c:chart>
  <c:spPr>
    <a:solidFill xmlns:a="http://schemas.openxmlformats.org/drawingml/2006/main">
      <a:srgbClr val="07131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04D6E-0CCC-4738-84BF-3B45C668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-857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050"/>
          </a:solidFill>
          <a:ln xmlns:a="http://schemas.openxmlformats.org/drawingml/2006/main" w="0">
            <a:solidFill>
              <a:srgbClr val="0B405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87998-8776-48E8-AFC3-CA8D726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2857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EBCA7-5ED6-429B-9784-1E0ADD47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55A53-335B-42FC-8341-F3E32D70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SENTINELNET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94FB0-163D-4299-AFBD-E07A0D16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669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8BDF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8BDF8"/>
                </a:solidFill>
                <a:latin typeface="Montserrat"/>
                <a:ea typeface="Montserrat"/>
                <a:cs typeface="Montserrat"/>
              </a:rPr>
              <a:t>AI Defense Fabric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16073-3E33-48AB-8AF1-CBDC64A5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7657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Transparent network-flow detection with analyst-controlled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F4F08-0A64-4C10-956E-BF4140D6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052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Controlled lab prototype using synthetic telemetry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FB4E-3ABF-4804-95DF-F4E1A8F1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958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C0034-D6F7-41FA-AEC9-0BCB36D2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62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4F8FB"/>
                </a:solidFill>
                <a:latin typeface="Ubuntu"/>
                <a:ea typeface="Ubuntu"/>
                <a:cs typeface="Ubuntu"/>
              </a:rPr>
              <a:t>ijudigal jarafu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69091-09F2-471F-9D00-3567507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149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200" b="0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2026/AICDF/16789   |   AICS-109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D64DA-4DB8-48C4-9A29-7245EB0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7454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4916C-3BE0-44E9-9AD6-5E3B3C8C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HOW THE PROTOTYPE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4928B-0AA6-4705-9365-B41F308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DF4DC-C675-4932-8AFE-8E6EC9A0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30FE7-2171-4937-B398-8ADB8DE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DEDBC-D19F-4F7F-9C3B-1CD88B00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57162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14288">
            <a:solidFill>
              <a:srgbClr val="38BDF8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SYNTHETIC</a:t>
            </a:r>
          </a:p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FLOW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42674-D631-4948-BF12-D4E2BF6E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571625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14288">
            <a:solidFill>
              <a:srgbClr val="38BDF8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PROFILE +</a:t>
            </a:r>
          </a:p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VALIDATE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2C8E1-C144-46CA-8555-A1F88ECE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Residual MLP</a:t>
            </a:r>
          </a:p>
          <a:p xmlns:a="http://schemas.openxmlformats.org/drawingml/2006/main">
            <a:pPr algn="ctr">
              <a:defRPr sz="14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known patterns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2E31D-2A7C-4C5F-B62F-5C9B7607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F6B73C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Autoencoder + IF</a:t>
            </a:r>
          </a:p>
          <a:p xmlns:a="http://schemas.openxmlformats.org/drawingml/2006/main">
            <a:pPr algn="ctr">
              <a:defRPr sz="14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off-baseline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4B92A-7DD9-4165-A68A-F1AB9F0A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43375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Sequence GRU</a:t>
            </a:r>
          </a:p>
          <a:p xmlns:a="http://schemas.openxmlformats.org/drawingml/2006/main">
            <a:pPr algn="ctr">
              <a:defRPr sz="14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prior eight 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21CCC-906F-4C76-B3D1-BC74BEE7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20955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113849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100-POINT</a:t>
            </a:r>
          </a:p>
          <a:p xmlns:a="http://schemas.openxmlformats.org/drawingml/2006/main">
            <a:pPr algn="ctr">
              <a:defRPr sz="15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EVIDENCE FUSION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56714-E538-4EC5-A51E-E774D3A3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762125"/>
            <a:ext cx="18573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32C3A"/>
          </a:solidFill>
          <a:ln xmlns:a="http://schemas.openxmlformats.org/drawingml/2006/main" w="14288">
            <a:solidFill>
              <a:srgbClr val="38BDF8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ALERT + ATT&amp;CK</a:t>
            </a:r>
          </a:p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693EE-D554-4E35-9497-A3AB29D0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05250"/>
            <a:ext cx="1857375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332819"/>
          </a:solidFill>
          <a:ln xmlns:a="http://schemas.openxmlformats.org/drawingml/2006/main" w="14288">
            <a:solidFill>
              <a:srgbClr val="F6B73C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46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DRY-RUN RESPONSE</a:t>
            </a:r>
          </a:p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HUMAN APPROVAL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38375" y="2009775"/>
            <a:ext cx="1000125" cy="585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38375" y="2595563"/>
            <a:ext cx="1000125" cy="7000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38375" y="4152900"/>
            <a:ext cx="100012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334000" y="2009775"/>
            <a:ext cx="1095375" cy="1157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334000" y="3167063"/>
            <a:ext cx="1095375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334000" y="3167063"/>
            <a:ext cx="1095375" cy="1414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524875" y="2238375"/>
            <a:ext cx="1143000" cy="928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96563" y="27146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6B8CE-BCB5-4689-8074-FE2376E3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8CA3B3"/>
                </a:solidFill>
                <a:latin typeface="Ubuntu"/>
                <a:ea typeface="Ubuntu"/>
                <a:cs typeface="Ubuntu"/>
              </a:rPr>
              <a:t>Every alert exposes the evidence behind its score</a:t>
            </a:r>
          </a:p>
        </p:txBody>
      </p:sp>
    </p:spTree>
    <p:extLst>
      <p:ext uri="{BB962C8B-B14F-4D97-AF65-F5344CB8AC3E}">
        <p14:creationId xmlns:p14="http://schemas.microsoft.com/office/powerpoint/2010/main" val="613870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DDAC4-93D0-4781-B4BA-40519185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EVIDENCE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E471A-EE10-47D5-919C-37CCFE98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Dataset and modeling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7A48F-1F64-487D-8A6A-52BC1AD5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F4C3D-1E59-4485-A155-01014FA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7D669-1ED3-4C9B-B16A-E4AA69B1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435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12,000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DD560-9035-46F9-937D-7FDD0DB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D4BF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2DD4BF"/>
                </a:solidFill>
                <a:latin typeface="Ubuntu"/>
                <a:ea typeface="Ubuntu"/>
                <a:cs typeface="Ubuntu"/>
              </a:rPr>
              <a:t>deterministic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A6D6D-81FA-499F-B417-53F62679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22 columns</a:t>
            </a:r>
          </a:p>
          <a:p xmlns:a="http://schemas.openxmlformats.org/drawingml/2006/main">
            <a:pPr algn="l">
              <a:defRPr sz="18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14 numeric model features</a:t>
            </a:r>
          </a:p>
          <a:p xmlns:a="http://schemas.openxmlformats.org/drawingml/2006/main">
            <a:pPr algn="l">
              <a:defRPr sz="18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6 traffic labels</a:t>
            </a:r>
          </a:p>
          <a:p xmlns:a="http://schemas.openxmlformats.org/drawingml/2006/main">
            <a:pPr algn="l">
              <a:defRPr sz="18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0 missing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E2C53-9F96-45EF-8581-46CA3C27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8CA3B3"/>
                </a:solidFill>
                <a:latin typeface="Ubuntu"/>
                <a:ea typeface="Ubuntu"/>
                <a:cs typeface="Ubuntu"/>
              </a:rPr>
              <a:t>Features cover traffic rate and volume, authentication failures, scan behavior, DNS entropy, beaconing, sensor alerts, and asset criticality.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810125" y="1590675"/>
          <a:ext xmlns:a="http://schemas.openxmlformats.org/drawingml/2006/main" cx="6667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ae2f97463d48be"/>
          </a:graphicData>
        </a:graphic>
      </p:graphicFrame>
    </p:spTree>
    <p:extLst>
      <p:ext uri="{BB962C8B-B14F-4D97-AF65-F5344CB8AC3E}">
        <p14:creationId xmlns:p14="http://schemas.microsoft.com/office/powerpoint/2010/main" val="199387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B5F98-8B4D-44E6-91CF-3B664AA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KNOWN-PATTERN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70B30-C6B2-48C5-A7BD-03FF9DB8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Supervised residual MLP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E911E-9B2A-4B66-AA91-ABD0ED3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90DDD-CC7C-4C0E-992F-2A1D202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4A320-4E47-4440-9B37-56B02E0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428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38BDF8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14</a:t>
            </a:r>
          </a:p>
          <a:p xmlns:a="http://schemas.openxmlformats.org/drawingml/2006/main">
            <a:pPr algn="ctr">
              <a:defRPr sz="16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15430-E605-4DC6-A636-32A1AF75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85950"/>
            <a:ext cx="2190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WIDTH 96</a:t>
            </a:r>
          </a:p>
          <a:p xmlns:a="http://schemas.openxmlformats.org/drawingml/2006/main">
            <a:pPr algn="ctr">
              <a:defRPr sz="142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2 RESIDUAL BLOCKS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395BE-3314-41CA-8EB8-56559BF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85950"/>
            <a:ext cx="138112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38BDF8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6</a:t>
            </a:r>
          </a:p>
          <a:p xmlns:a="http://schemas.openxmlformats.org/drawingml/2006/main">
            <a:pPr algn="ctr">
              <a:defRPr sz="16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CLASSES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33600" y="236220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10125" y="23622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4B0FB-E0C1-4C1F-A830-3851D2E0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D4B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2DD4BF"/>
                </a:solidFill>
                <a:latin typeface="Montserrat"/>
                <a:ea typeface="Montserrat"/>
                <a:cs typeface="Montserrat"/>
              </a:rPr>
              <a:t>75 / 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A4683-02F0-42B5-9597-2D2D03E8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stratified train/test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0E591-F812-416E-BA8D-F02A8832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8CA3B3"/>
                </a:solidFill>
                <a:latin typeface="Ubuntu"/>
                <a:ea typeface="Ubuntu"/>
                <a:cs typeface="Ubuntu"/>
              </a:rPr>
              <a:t>Scaler fitted on training rows only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7143750" y="1619250"/>
          <a:ext xmlns:a="http://schemas.openxmlformats.org/drawingml/2006/main" cx="4095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22486a27b24a29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E547B-A4E2-41D4-B0D1-E28369B1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86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8BDF8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38BDF8"/>
                </a:solidFill>
                <a:latin typeface="Ubuntu"/>
                <a:ea typeface="Ubuntu"/>
                <a:cs typeface="Ubuntu"/>
              </a:rPr>
              <a:t>3,000 held-out test 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87824-8567-4F03-B041-2C04C612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Two PortScan samples were predicted as BruteForce. Distinct synthetic class distributions explain the near-perfect result.</a:t>
            </a:r>
          </a:p>
        </p:txBody>
      </p:sp>
    </p:spTree>
    <p:extLst>
      <p:ext uri="{BB962C8B-B14F-4D97-AF65-F5344CB8AC3E}">
        <p14:creationId xmlns:p14="http://schemas.microsoft.com/office/powerpoint/2010/main" val="603184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80510-DE5A-457D-B43A-4E0BB8E4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OFF-BASELINE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B1521-4A94-4EE0-89F2-DED36EE6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Anomaly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B6DC0-1444-46E8-B7EA-F4BBBF30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228BE-ECD0-456E-A77E-F6872EC1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53E4A-8B1A-423A-983D-76A8451D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Training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FBCED-DA85-4C19-933F-DE6EA049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The autoencoder and Isolation Forest learn only from benign training flows. The test partition never selects the threshold.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2A96F-9DFD-45C9-BEB4-CEF52AB1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52625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352A18"/>
          </a:solidFill>
          <a:ln xmlns:a="http://schemas.openxmlformats.org/drawingml/2006/main" w="14288">
            <a:solidFill>
              <a:srgbClr val="F6B73C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B73C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F6B73C"/>
                </a:solidFill>
                <a:latin typeface="Ubuntu"/>
                <a:ea typeface="Ubuntu"/>
                <a:cs typeface="Ubuntu"/>
              </a:rPr>
              <a:t>95th percentile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BDD6B-F9E2-492E-84EA-C67E3DD4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147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8CA3B3"/>
                </a:solidFill>
                <a:latin typeface="Ubuntu"/>
                <a:ea typeface="Ubuntu"/>
                <a:cs typeface="Ubuntu"/>
              </a:rPr>
              <a:t>held-out benign training reconstruction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F3517-1445-4BF1-9C69-D21046BD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425" b="0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threshold  0.05419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619750" y="1619250"/>
          <a:ext xmlns:a="http://schemas.openxmlformats.org/drawingml/2006/main" cx="5810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971938934443c7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CAC99-2145-4EB3-85C6-1B6836B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388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6B73C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F6B73C"/>
                </a:solidFill>
                <a:latin typeface="Ubuntu"/>
                <a:ea typeface="Ubuntu"/>
                <a:cs typeface="Ubuntu"/>
              </a:rPr>
              <a:t>Role: corroborate deviations from the benign baseline</a:t>
            </a:r>
          </a:p>
        </p:txBody>
      </p:sp>
    </p:spTree>
    <p:extLst>
      <p:ext uri="{BB962C8B-B14F-4D97-AF65-F5344CB8AC3E}">
        <p14:creationId xmlns:p14="http://schemas.microsoft.com/office/powerpoint/2010/main" val="1394826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92019-0270-48E8-9CAB-3BC8884A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TEMPORAL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6BC55-4328-4D9F-9A15-CA978351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Sequence GRU and honest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E9E1F-F75C-4956-B500-4A60448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82121-B1CE-40A5-B464-C542495D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8FAAF-6E05-4D40-B00C-60BD3C3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275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PREVIOUS 8 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D74F9-7398-435E-9A01-7DEEFBCF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38150" cy="5143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2C3D"/>
          </a:solidFill>
          <a:ln xmlns:a="http://schemas.openxmlformats.org/drawingml/2006/main" w="14288">
            <a:solidFill>
              <a:srgbClr val="19364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6C1C2-ED25-4DB6-AD20-B90E5A4B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438150" cy="5143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2C3D"/>
          </a:solidFill>
          <a:ln xmlns:a="http://schemas.openxmlformats.org/drawingml/2006/main" w="14288">
            <a:solidFill>
              <a:srgbClr val="19364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08684-7490-4EDC-B089-CF903570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90750"/>
            <a:ext cx="438150" cy="5143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2C3D"/>
          </a:solidFill>
          <a:ln xmlns:a="http://schemas.openxmlformats.org/drawingml/2006/main" w="14288">
            <a:solidFill>
              <a:srgbClr val="19364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DDAA5-6D95-4B6B-809A-0EC643A7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90750"/>
            <a:ext cx="438150" cy="5143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2C3D"/>
          </a:solidFill>
          <a:ln xmlns:a="http://schemas.openxmlformats.org/drawingml/2006/main" w="14288">
            <a:solidFill>
              <a:srgbClr val="19364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064D5-3F82-40E1-B2E7-75DF0F68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438150" cy="5143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2C3D"/>
          </a:solidFill>
          <a:ln xmlns:a="http://schemas.openxmlformats.org/drawingml/2006/main" w="14288">
            <a:solidFill>
              <a:srgbClr val="19364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BE2D5-7E43-4986-BFC6-C57ED777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438150" cy="5143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2C3D"/>
          </a:solidFill>
          <a:ln xmlns:a="http://schemas.openxmlformats.org/drawingml/2006/main" w="14288">
            <a:solidFill>
              <a:srgbClr val="19364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23645-E6DA-46CD-AC6D-40B4265D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438150" cy="5143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2C3D"/>
          </a:solidFill>
          <a:ln xmlns:a="http://schemas.openxmlformats.org/drawingml/2006/main" w="14288">
            <a:solidFill>
              <a:srgbClr val="19364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ADFA4-5689-431D-ABD3-F627AE0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90750"/>
            <a:ext cx="438150" cy="5143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4257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27E11-8F4D-4C87-B5A4-3EC664D5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76450"/>
            <a:ext cx="1143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73548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GRU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6096F-8DB7-4AA2-ADF3-9D7C913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76450"/>
            <a:ext cx="1524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2F2530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NEXT FLOW</a:t>
            </a:r>
          </a:p>
          <a:p xmlns:a="http://schemas.openxmlformats.org/drawingml/2006/main">
            <a:pPr algn="ctr">
              <a:defRPr sz="142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LABEL</a:t>
            </a:r>
          </a:p>
        </p:txBody>
      </p:sp>
      <p:cxnSp>
        <p:nvCxnSpPr>
          <p:cNvPr id="3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257800" y="2447925"/>
            <a:ext cx="457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58000" y="24574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B2969-32EE-4418-965B-73243CC6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B7185"/>
                </a:solidFill>
                <a:latin typeface="Montserrat"/>
                <a:ea typeface="Montserrat"/>
                <a:cs typeface="Montserrat"/>
              </a:defRPr>
            </a:pPr>
            <a:r>
              <a:rPr sz="5250" b="1">
                <a:solidFill>
                  <a:srgbClr val="FB7185"/>
                </a:solidFill>
                <a:latin typeface="Montserrat"/>
                <a:ea typeface="Montserrat"/>
                <a:cs typeface="Montserrat"/>
              </a:rPr>
              <a:t>0.1223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B4346-6645-4D29-AE2B-1EDCBA7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macro 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16115-62FC-47A2-830D-CF8D662D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42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weighted F1  0.1795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020BB-6646-46D0-9616-A7CFAF8E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Why the score is 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BC0C4-3E34-4B68-9273-84A535CB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05275"/>
            <a:ext cx="55721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The generator samples labels independently. It does not create campaigns, beacon intervals, scan bursts, or staged exfiltration sequences. The model has little legitimate temporal signal to learn.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F3017-55E9-456F-A129-887C9AF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648325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B73C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6B73C"/>
                </a:solidFill>
                <a:latin typeface="Ubuntu"/>
                <a:ea typeface="Ubuntu"/>
                <a:cs typeface="Ubuntu"/>
              </a:rPr>
              <a:t>The weak result remains in the submission because it accurately reflects the dataset.</a:t>
            </a:r>
          </a:p>
        </p:txBody>
      </p:sp>
    </p:spTree>
    <p:extLst>
      <p:ext uri="{BB962C8B-B14F-4D97-AF65-F5344CB8AC3E}">
        <p14:creationId xmlns:p14="http://schemas.microsoft.com/office/powerpoint/2010/main" val="781911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14CE0-D2B6-4A35-BD23-1BDE9496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TRANSPARENT 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AD282-28EB-4682-ACA0-8DA61712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Evidence fusion and ATT&amp;CK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081BF-E238-47DE-A759-C3246515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2E325-9ECC-4ACF-B639-95A2FB8F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07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1638300"/>
          <a:ext xmlns:a="http://schemas.openxmlformats.org/drawingml/2006/main" cx="5619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0d0448ae93486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EF2FD-06F0-48BB-907A-A2574219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292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D4BF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2DD4BF"/>
                </a:solidFill>
                <a:latin typeface="Ubuntu"/>
                <a:ea typeface="Ubuntu"/>
                <a:cs typeface="Ubuntu"/>
              </a:rPr>
              <a:t>100 points maximum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D7F33-B0E3-44DE-9AD5-31FA2DD2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384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3C9D5-23D3-4A90-9116-F560768D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955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8BDF8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38BDF8"/>
                </a:solidFill>
                <a:latin typeface="Ubuntu"/>
                <a:ea typeface="Ubuntu"/>
                <a:cs typeface="Ubuntu"/>
              </a:rPr>
              <a:t>alerts from 1,000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ACC38-4115-457C-8ABD-C8E442D6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Integration demonstration</a:t>
            </a:r>
          </a:p>
          <a:p xmlns:a="http://schemas.openxmlformats.org/drawingml/2006/main">
            <a:pPr algn="l">
              <a:defRPr sz="15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Threshold 65</a:t>
            </a:r>
          </a:p>
          <a:p xmlns:a="http://schemas.openxmlformats.org/drawingml/2006/main">
            <a:pPr algn="l">
              <a:defRPr sz="15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Overlaps the model-development corpus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8EE70-9C6B-494F-BEF8-09ED62FF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1DBBE-AE77-4EF8-82C4-C545E1B5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ATT&amp;CK mapping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D8E43-030E-4CD2-A0DA-4B4CF1F5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10125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T1498  DDoS</a:t>
            </a:r>
          </a:p>
          <a:p xmlns:a="http://schemas.openxmlformats.org/drawingml/2006/main">
            <a:pPr algn="l">
              <a:def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T1110  Brute Force</a:t>
            </a:r>
          </a:p>
          <a:p xmlns:a="http://schemas.openxmlformats.org/drawingml/2006/main">
            <a:pPr algn="l">
              <a:def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T1041  Exfiltration</a:t>
            </a:r>
          </a:p>
          <a:p xmlns:a="http://schemas.openxmlformats.org/drawingml/2006/main">
            <a:pPr algn="l">
              <a:def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T1071  Command and Control</a:t>
            </a:r>
          </a:p>
          <a:p xmlns:a="http://schemas.openxmlformats.org/drawingml/2006/main">
            <a:pPr algn="l">
              <a:def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T1046  Network Service Discovery</a:t>
            </a:r>
          </a:p>
        </p:txBody>
      </p:sp>
    </p:spTree>
    <p:extLst>
      <p:ext uri="{BB962C8B-B14F-4D97-AF65-F5344CB8AC3E}">
        <p14:creationId xmlns:p14="http://schemas.microsoft.com/office/powerpoint/2010/main" val="709221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AD25C4-BA45-4C5A-8603-FE3B386D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EVIDENCE BEFORE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82D69-2622-41E8-94DE-80F98851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Alert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CC86F-A4FE-431E-8E68-95DA7C82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883D4-837C-4AAB-9F04-9C502709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90650-3128-4EFB-985F-6D88223E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38BDF8"/>
                </a:solidFill>
                <a:latin typeface="Montserrat"/>
                <a:ea typeface="Montserrat"/>
                <a:cs typeface="Montserrat"/>
              </a:rPr>
              <a:t>DDoS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F0FCA-D0CB-439D-A06B-ADCACF81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7799E-12EB-41A3-BFC4-6DC76B2E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125" b="1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EE489-E1C6-48BE-B67E-E1DB1CC9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rPr>
              <a:t>10.10.4.137</a:t>
            </a:r>
          </a:p>
          <a:p xmlns:a="http://schemas.openxmlformats.org/drawingml/2006/main">
            <a:pPr algn="l">
              <a:def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rPr>
              <a:t>10.10.7.146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28C50-AA41-4AB8-AED5-D8A1E884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19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BD024-5D0B-4DD1-8CFB-B1B87C05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4F8FB"/>
                </a:solidFill>
                <a:latin typeface="Ubuntu"/>
                <a:ea typeface="Ubuntu"/>
                <a:cs typeface="Ubuntu"/>
              </a:rPr>
              <a:t>3474 packets/sec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227EE-2F4E-41BC-B02B-FE7F724A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Confidence 100.0%</a:t>
            </a:r>
          </a:p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Anomaly 100%</a:t>
            </a:r>
          </a:p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T1498 Network Denial of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888B3-1711-4783-9011-C0F9E9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8CA3B3"/>
                </a:solidFill>
                <a:latin typeface="Ubuntu"/>
                <a:ea typeface="Ubuntu"/>
                <a:cs typeface="Ubuntu"/>
              </a:rPr>
              <a:t>Analyst validates raw telemetry before containment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CFE07-CB30-451B-9B95-6E9E62A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81150"/>
            <a:ext cx="0" cy="442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03F1B-D7FC-4B73-B891-4925B83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287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B73C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6B73C"/>
                </a:solidFill>
                <a:latin typeface="Montserrat"/>
                <a:ea typeface="Montserrat"/>
                <a:cs typeface="Montserrat"/>
              </a:rPr>
              <a:t>BruteForce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630AC-6A8B-41FC-A7EC-2ACA6096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E0A89-1E24-41B7-ADF6-0A928B24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33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125" b="1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92DC4-D936-42AC-931C-05582EB1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rPr>
              <a:t>10.10.4.100</a:t>
            </a:r>
          </a:p>
          <a:p xmlns:a="http://schemas.openxmlformats.org/drawingml/2006/main">
            <a:pPr algn="l">
              <a:def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rPr>
              <a:t>10.10.8.65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F4814-5FE8-43E3-866A-F3937BFF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319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AC1F6-4A56-4305-ABB0-407CC4F3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4F8FB"/>
                </a:solidFill>
                <a:latin typeface="Ubuntu"/>
                <a:ea typeface="Ubuntu"/>
                <a:cs typeface="Ubuntu"/>
              </a:rPr>
              <a:t>36 failed connections / 5m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6930E-B3FF-4E96-BBC6-E613CCD0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434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Confidence 99.6%</a:t>
            </a:r>
          </a:p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Anomaly 100%</a:t>
            </a:r>
          </a:p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T1110 Brute Force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57CF8-A347-40E7-8E62-95C9C737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05450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8CA3B3"/>
                </a:solidFill>
                <a:latin typeface="Ubuntu"/>
                <a:ea typeface="Ubuntu"/>
                <a:cs typeface="Ubuntu"/>
              </a:rPr>
              <a:t>Analyst validates raw telemetry before containment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BC25F-1F94-49B4-9E9E-6CE65650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0" cy="442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C9BF8-96E4-4376-95E9-BB94B64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287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B7185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B7185"/>
                </a:solidFill>
                <a:latin typeface="Montserrat"/>
                <a:ea typeface="Montserrat"/>
                <a:cs typeface="Montserrat"/>
              </a:rPr>
              <a:t>Exfiltration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1CE62-EFB6-492D-8BBB-47A9846B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88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80F48-BC98-478F-9AE0-95A023E9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1125" b="1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0C548-D251-4B99-A623-F89D75D2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rPr>
              <a:t>10.10.2.24</a:t>
            </a:r>
          </a:p>
          <a:p xmlns:a="http://schemas.openxmlformats.org/drawingml/2006/main">
            <a:pPr algn="l">
              <a:def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defRPr>
            </a:pPr>
            <a:r>
              <a:rPr sz="1275" b="0">
                <a:solidFill>
                  <a:srgbClr val="D7E3EA"/>
                </a:solidFill>
                <a:latin typeface="Ubuntu Mono"/>
                <a:ea typeface="Ubuntu Mono"/>
                <a:cs typeface="Ubuntu Mono"/>
              </a:rPr>
              <a:t>203.0.113.89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268F9-5B6B-4654-B2A7-6B0279F9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319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0BD45-FA08-4465-A0DE-C10E9536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4F8FB"/>
                </a:solidFill>
                <a:latin typeface="Ubuntu"/>
                <a:ea typeface="Ubuntu"/>
                <a:cs typeface="Ubuntu"/>
              </a:rPr>
              <a:t>39.7 MB outbound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E1DF9B-6C54-44A6-A0DE-07044CF5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Confidence 100.0%</a:t>
            </a:r>
          </a:p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Anomaly 100%</a:t>
            </a:r>
          </a:p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T1041 Exfiltration Over C2 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55911-EC63-4479-9AC3-3265F6B7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CA3B3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8CA3B3"/>
                </a:solidFill>
                <a:latin typeface="Ubuntu"/>
                <a:ea typeface="Ubuntu"/>
                <a:cs typeface="Ubuntu"/>
              </a:rPr>
              <a:t>Analyst validates raw telemetry before containment</a:t>
            </a:r>
          </a:p>
        </p:txBody>
      </p:sp>
    </p:spTree>
    <p:extLst>
      <p:ext uri="{BB962C8B-B14F-4D97-AF65-F5344CB8AC3E}">
        <p14:creationId xmlns:p14="http://schemas.microsoft.com/office/powerpoint/2010/main" val="1151433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062E4-EB26-4E80-8C86-A9F6957A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DRY-RUN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4B77C-CD32-450F-B924-EEBC68D6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Safety and response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B406C-9C2C-416A-B16F-FD0F69C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D2982-6F1D-4A60-8EEB-4F15807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1B2A1-EE21-4C44-9B92-D456A629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1714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38BDF8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PRIORITIZED</a:t>
            </a:r>
          </a:p>
          <a:p xmlns:a="http://schemas.openxmlformats.org/drawingml/2006/main">
            <a:pPr algn="ctr">
              <a:defRPr sz="1575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ALERT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2815F-4A62-413B-A516-3C41465A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2095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RISK + ADDRESS</a:t>
            </a:r>
          </a:p>
          <a:p xmlns:a="http://schemas.openxmlformats.org/drawingml/2006/main">
            <a:pPr algn="ctr">
              <a:defRPr sz="150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E7CAC-E996-4EBC-97CE-89C75985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238375" cy="1381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52A18"/>
          </a:solidFill>
          <a:ln xmlns:a="http://schemas.openxmlformats.org/drawingml/2006/main" w="14288">
            <a:solidFill>
              <a:srgbClr val="F6B73C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B73C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F6B73C"/>
                </a:solidFill>
                <a:latin typeface="Ubuntu"/>
                <a:ea typeface="Ubuntu"/>
                <a:cs typeface="Ubuntu"/>
              </a:rPr>
              <a:t>HUMAN</a:t>
            </a:r>
          </a:p>
          <a:p xmlns:a="http://schemas.openxmlformats.org/drawingml/2006/main">
            <a:pPr algn="ctr">
              <a:defRPr sz="1275" b="1">
                <a:solidFill>
                  <a:srgbClr val="F6B73C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F6B73C"/>
                </a:solidFill>
                <a:latin typeface="Ubuntu"/>
                <a:ea typeface="Ubuntu"/>
                <a:cs typeface="Ubuntu"/>
              </a:rPr>
              <a:t>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01253-490D-4A73-98B5-F9B9880B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1907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4288">
            <a:solidFill>
              <a:srgbClr val="6EE7B7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RECOMMENDATION</a:t>
            </a:r>
          </a:p>
          <a:p xmlns:a="http://schemas.openxmlformats.org/drawingml/2006/main">
            <a:pPr algn="ctr">
              <a:defRPr sz="1350" b="1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D7E3EA"/>
                </a:solidFill>
                <a:latin typeface="Ubuntu"/>
                <a:ea typeface="Ubuntu"/>
                <a:cs typeface="Ubuntu"/>
              </a:rPr>
              <a:t>ONLY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28875" y="29289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238750" y="29289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43875" y="29289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364A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4212B-3FDF-4CE7-A9F7-CA6D97A2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7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No network command executes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DA33F-1CC3-4E6B-8CFE-E88D94F8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Every action remains mode: dry-run and human_approval_required: true.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90B2F-5E23-4826-8362-CCFDFE19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Isolation recommendations apply only to valid RFC1918 lab sources. Public or malformed addresses escalate to Tier 2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5FFE5-A3A1-4808-AA7D-76713C6F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38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B73C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F6B73C"/>
                </a:solidFill>
                <a:latin typeface="Ubuntu"/>
                <a:ea typeface="Ubuntu"/>
                <a:cs typeface="Ubuntu"/>
              </a:rPr>
              <a:t>Operational action remains an analyst decision</a:t>
            </a:r>
          </a:p>
        </p:txBody>
      </p:sp>
    </p:spTree>
    <p:extLst>
      <p:ext uri="{BB962C8B-B14F-4D97-AF65-F5344CB8AC3E}">
        <p14:creationId xmlns:p14="http://schemas.microsoft.com/office/powerpoint/2010/main" val="3263336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DD305-EFF1-48A4-8B13-8AAD5F92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SCOPE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3288C-6BB8-4DF3-9363-356F36C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Limitations and 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A9BE7-F92A-4D03-94D3-751E9B9F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E7366-89EB-4A2A-B781-9533D653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1702A-1280-4326-81C8-B4E9C03D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B7185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B7185"/>
                </a:solidFill>
                <a:latin typeface="Montserrat"/>
                <a:ea typeface="Montserrat"/>
                <a:cs typeface="Montserrat"/>
              </a:rPr>
              <a:t>Current limitations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40822-9701-4165-BD63-D7BC168C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Synthetic class patterns separate more cleanly than real traffic.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Sequence labels lack campaign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Probabilities and response thresholds are not calibrated for operational base rates.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The prototype has no drift monitor or adversarial-evasion assessment.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80443-6282-4B3D-B9F7-CB27B561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28775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55CDD-5C4B-4363-A7F3-2B24E753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D4B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2DD4BF"/>
                </a:solidFill>
                <a:latin typeface="Montserrat"/>
                <a:ea typeface="Montserrat"/>
                <a:cs typeface="Montserrat"/>
              </a:rPr>
              <a:t>Next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3F183-AEB2-405D-A842-703407CC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Use authorized Zeek or Suricata telemetry.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Create session and campaign-aware temporal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Calibrate model probabilities and alert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Measure precision under realistic attack base rates and monitor drift.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62D61-A057-4FB8-8BA2-4EF8AACA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00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2530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B7185"/>
                </a:solidFill>
                <a:latin typeface="Ubuntu"/>
                <a:ea typeface="Ubuntu"/>
                <a:cs typeface="Ubuntu"/>
              </a:defRPr>
            </a:pPr>
            <a:r>
              <a:rPr sz="1200" b="1">
                <a:solidFill>
                  <a:srgbClr val="FB7185"/>
                </a:solidFill>
                <a:latin typeface="Ubuntu"/>
                <a:ea typeface="Ubuntu"/>
                <a:cs typeface="Ubuntu"/>
              </a:rPr>
              <a:t>LAB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CF1CB-9A3C-4C66-80A6-790FAA6E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15000"/>
            <a:ext cx="24765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3849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D4BF"/>
                </a:solidFill>
                <a:latin typeface="Ubuntu"/>
                <a:ea typeface="Ubuntu"/>
                <a:cs typeface="Ubuntu"/>
              </a:defRPr>
            </a:pPr>
            <a:r>
              <a:rPr sz="1200" b="1">
                <a:solidFill>
                  <a:srgbClr val="2DD4BF"/>
                </a:solidFill>
                <a:latin typeface="Ubuntu"/>
                <a:ea typeface="Ubuntu"/>
                <a:cs typeface="Ubuntu"/>
              </a:rPr>
              <a:t>AUTHORIZED TELEMETRY</a:t>
            </a:r>
          </a:p>
        </p:txBody>
      </p:sp>
    </p:spTree>
    <p:extLst>
      <p:ext uri="{BB962C8B-B14F-4D97-AF65-F5344CB8AC3E}">
        <p14:creationId xmlns:p14="http://schemas.microsoft.com/office/powerpoint/2010/main" val="8104214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26BF2-E4C5-4C25-81CA-31525B71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050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SUBMISSION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1CC15-1F58-4AD2-B5D8-F2EAF0A8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Reproducibility and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8F42A-D618-43D3-9730-90769F4E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74ED2-9F29-4435-A833-A40C34DD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defRPr>
            </a:pPr>
            <a:r>
              <a:rPr sz="975" b="0">
                <a:solidFill>
                  <a:srgbClr val="8CA3B3"/>
                </a:solidFill>
                <a:latin typeface="Ubuntu Mono"/>
                <a:ea typeface="Ubuntu Mono"/>
                <a:cs typeface="Ubuntu Mon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2ADA6-4464-4EAA-885E-6E57A773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  <a:latin typeface="Ubuntu Mono"/>
                <a:ea typeface="Ubuntu Mono"/>
                <a:cs typeface="Ubuntu Mono"/>
              </a:defRPr>
            </a:pPr>
            <a:r>
              <a:rPr sz="1275" b="1">
                <a:solidFill>
                  <a:srgbClr val="2DD4BF"/>
                </a:solidFill>
                <a:latin typeface="Ubuntu Mono"/>
                <a:ea typeface="Ubuntu Mono"/>
                <a:cs typeface="Ubuntu Mono"/>
              </a:rPr>
              <a:t>ONE 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3D4C-C4F6-4474-B602-E87BCDB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C29"/>
          </a:solidFill>
          <a:ln xmlns:a="http://schemas.openxmlformats.org/drawingml/2006/main" w="14288">
            <a:solidFill>
              <a:srgbClr val="19364A"/>
            </a:solidFill>
            <a:prstDash val="solid"/>
          </a:ln>
        </p:spPr>
        <p:txBody>
          <a:bodyPr xmlns:a="http://schemas.openxmlformats.org/drawingml/2006/main" lIns="209550" tIns="17145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EA"/>
                </a:solidFill>
                <a:latin typeface="Ubuntu Mono"/>
                <a:ea typeface="Ubuntu Mono"/>
                <a:cs typeface="Ubuntu Mono"/>
              </a:defRPr>
            </a:pPr>
            <a:r>
              <a:rPr sz="1500" b="0">
                <a:solidFill>
                  <a:srgbClr val="D7E3EA"/>
                </a:solidFill>
                <a:latin typeface="Ubuntu Mono"/>
                <a:ea typeface="Ubuntu Mono"/>
                <a:cs typeface="Ubuntu Mono"/>
              </a:rPr>
              <a:t>python scripts/09_run_pipeline.py</a:t>
            </a:r>
          </a:p>
          <a:p xmlns:a="http://schemas.openxmlformats.org/drawingml/2006/main">
            <a:pPr algn="l">
              <a:defRPr sz="1500" b="0">
                <a:solidFill>
                  <a:srgbClr val="D7E3EA"/>
                </a:solidFill>
                <a:latin typeface="Ubuntu Mono"/>
                <a:ea typeface="Ubuntu Mono"/>
                <a:cs typeface="Ubuntu Mono"/>
              </a:defRPr>
            </a:pPr>
            <a:r>
              <a:rPr sz="1500" b="0">
                <a:solidFill>
                  <a:srgbClr val="D7E3EA"/>
                </a:solidFill>
                <a:latin typeface="Ubuntu Mono"/>
                <a:ea typeface="Ubuntu Mono"/>
                <a:cs typeface="Ubuntu Mono"/>
              </a:rPr>
              <a:t>--profile final --seed 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BF3E3-2DED-4B91-9B30-E8255E59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0CC1F-2305-4041-8F44-18242649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8BDF8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38BDF8"/>
                </a:solidFill>
                <a:latin typeface="Ubuntu"/>
                <a:ea typeface="Ubuntu"/>
                <a:cs typeface="Ubuntu"/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9EF88-2E07-4DF9-94E5-57CF88DD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Validator loads model artifacts and checks output contracts, alert arithmetic, and response safety.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251D7-FDF8-4671-BB23-9C6FF42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8FB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4F8FB"/>
                </a:solidFill>
                <a:latin typeface="Montserrat"/>
                <a:ea typeface="Montserrat"/>
                <a:cs typeface="Montserrat"/>
              </a:rPr>
              <a:t>Submission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8C125-43EF-4070-872C-AC62DB5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7625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Model checkpoints + preprocessors</a:t>
            </a:r>
          </a:p>
          <a:p xmlns:a="http://schemas.openxmlformats.org/drawingml/2006/main">
            <a:pPr algn="l">
              <a:defRPr sz="17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Metrics + confusion matrix</a:t>
            </a:r>
          </a:p>
          <a:p xmlns:a="http://schemas.openxmlformats.org/drawingml/2006/main">
            <a:pPr algn="l">
              <a:defRPr sz="17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384 fused alert records</a:t>
            </a:r>
          </a:p>
          <a:p xmlns:a="http://schemas.openxmlformats.org/drawingml/2006/main">
            <a:pPr algn="l">
              <a:defRPr sz="17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Incident report + dry-run response plan</a:t>
            </a:r>
          </a:p>
          <a:p xmlns:a="http://schemas.openxmlformats.org/drawingml/2006/main">
            <a:pPr algn="l">
              <a:defRPr sz="17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Execution log</a:t>
            </a:r>
          </a:p>
          <a:p xmlns:a="http://schemas.openxmlformats.org/drawingml/2006/main">
            <a:pPr algn="l">
              <a:defRPr sz="1725" b="0">
                <a:solidFill>
                  <a:srgbClr val="D7E3E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D7E3EA"/>
                </a:solidFill>
                <a:latin typeface="Ubuntu"/>
                <a:ea typeface="Ubuntu"/>
                <a:cs typeface="Ubuntu"/>
              </a:rPr>
              <a:t>DOCX + PDF +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DFB5E-F3B0-42B9-91F4-8F0CFB19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4ABD1-9421-4227-BA5C-A364713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2922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77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D4B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2DD4BF"/>
                </a:solidFill>
                <a:latin typeface="Montserrat"/>
                <a:ea typeface="Montserrat"/>
                <a:cs typeface="Montserrat"/>
              </a:rPr>
              <a:t>SentinelNet is a defensible, reproducible lab prototype with explicit safety boundaries.</a:t>
            </a:r>
          </a:p>
        </p:txBody>
      </p:sp>
    </p:spTree>
    <p:extLst>
      <p:ext uri="{BB962C8B-B14F-4D97-AF65-F5344CB8AC3E}">
        <p14:creationId xmlns:p14="http://schemas.microsoft.com/office/powerpoint/2010/main" val="498683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2026-09-04T18:52:07.8480000Z</dcterms:created>
  <dcterms:modified xsi:type="dcterms:W3CDTF">2026-09-04T18:52:07.8480000Z</dcterms:modified>
</coreProperties>
</file>